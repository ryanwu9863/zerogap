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03246f551f4462" /><Relationship Type="http://schemas.openxmlformats.org/officeDocument/2006/relationships/extended-properties" Target="/docProps/app.xml" Id="R481d01cc57724651" /><Relationship Type="http://schemas.openxmlformats.org/officeDocument/2006/relationships/officeDocument" Target="/ppt/presentation.xml" Id="Racf3021a95a44d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813b960134965"/>
  </p:sldMasterIdLst>
  <p:notesMasterIdLst>
    <p:notesMasterId xmlns:r="http://schemas.openxmlformats.org/officeDocument/2006/relationships" r:id="R87c8c95756984adc"/>
  </p:notesMasterIdLst>
  <p:sldIdLst>
    <p:sldId xmlns:r="http://schemas.openxmlformats.org/officeDocument/2006/relationships" id="256" r:id="Rb42df5960f844017"/>
    <p:sldId xmlns:r="http://schemas.openxmlformats.org/officeDocument/2006/relationships" id="257" r:id="R21744ada4d164f63"/>
    <p:sldId xmlns:r="http://schemas.openxmlformats.org/officeDocument/2006/relationships" id="258" r:id="R65efb6e2422e433f"/>
    <p:sldId xmlns:r="http://schemas.openxmlformats.org/officeDocument/2006/relationships" id="259" r:id="Rcf5957cb13744306"/>
    <p:sldId xmlns:r="http://schemas.openxmlformats.org/officeDocument/2006/relationships" id="260" r:id="Ra4f14b60e7084f3d"/>
    <p:sldId xmlns:r="http://schemas.openxmlformats.org/officeDocument/2006/relationships" id="261" r:id="Re8e6d1a680684054"/>
    <p:sldId xmlns:r="http://schemas.openxmlformats.org/officeDocument/2006/relationships" id="262" r:id="R11f895957edd48b7"/>
    <p:sldId xmlns:r="http://schemas.openxmlformats.org/officeDocument/2006/relationships" id="263" r:id="R67f26709631f4a84"/>
    <p:sldId xmlns:r="http://schemas.openxmlformats.org/officeDocument/2006/relationships" id="264" r:id="Rc95c39de561f4419"/>
    <p:sldId xmlns:r="http://schemas.openxmlformats.org/officeDocument/2006/relationships" id="265" r:id="Rc5ac2ea0d5c54f1b"/>
    <p:sldId xmlns:r="http://schemas.openxmlformats.org/officeDocument/2006/relationships" id="266" r:id="Rf94c57df9d734559"/>
    <p:sldId xmlns:r="http://schemas.openxmlformats.org/officeDocument/2006/relationships" id="267" r:id="R4a9fbb9612c74e73"/>
    <p:sldId xmlns:r="http://schemas.openxmlformats.org/officeDocument/2006/relationships" id="268" r:id="R108ef2d29a2c4885"/>
    <p:sldId xmlns:r="http://schemas.openxmlformats.org/officeDocument/2006/relationships" id="269" r:id="Re0c3d25cd62046be"/>
    <p:sldId xmlns:r="http://schemas.openxmlformats.org/officeDocument/2006/relationships" id="270" r:id="R19dd50a937ce47f2"/>
    <p:sldId xmlns:r="http://schemas.openxmlformats.org/officeDocument/2006/relationships" id="271" r:id="R49dd8fb6361d46ad"/>
    <p:sldId xmlns:r="http://schemas.openxmlformats.org/officeDocument/2006/relationships" id="272" r:id="Rf6fa5ced5797477e"/>
    <p:sldId xmlns:r="http://schemas.openxmlformats.org/officeDocument/2006/relationships" id="273" r:id="Rc3c23cf2ba77476e"/>
    <p:sldId xmlns:r="http://schemas.openxmlformats.org/officeDocument/2006/relationships" id="274" r:id="R2318f2f2a8484e98"/>
    <p:sldId xmlns:r="http://schemas.openxmlformats.org/officeDocument/2006/relationships" id="275" r:id="R8ae4dea7ea5b4c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7b05943f6444df" /><Relationship Type="http://schemas.openxmlformats.org/officeDocument/2006/relationships/slideMaster" Target="/ppt/slideMasters/slideMaster1.xml" Id="Rac6813b960134965" /><Relationship Type="http://schemas.openxmlformats.org/officeDocument/2006/relationships/notesMaster" Target="/ppt/notesMasters/notesMaster1.xml" Id="R87c8c95756984adc" /><Relationship Type="http://schemas.openxmlformats.org/officeDocument/2006/relationships/presProps" Target="/ppt/presProps.xml" Id="R702ed6ac2e9a4290" /><Relationship Type="http://schemas.openxmlformats.org/officeDocument/2006/relationships/tableStyles" Target="/ppt/tableStyles.xml" Id="R63f241ca6eed4c9b" /><Relationship Type="http://schemas.openxmlformats.org/officeDocument/2006/relationships/slide" Target="/ppt/slides/slide1.xml" Id="Rb42df5960f844017" /><Relationship Type="http://schemas.openxmlformats.org/officeDocument/2006/relationships/slide" Target="/ppt/slides/slide2.xml" Id="R21744ada4d164f63" /><Relationship Type="http://schemas.openxmlformats.org/officeDocument/2006/relationships/slide" Target="/ppt/slides/slide3.xml" Id="R65efb6e2422e433f" /><Relationship Type="http://schemas.openxmlformats.org/officeDocument/2006/relationships/slide" Target="/ppt/slides/slide4.xml" Id="Rcf5957cb13744306" /><Relationship Type="http://schemas.openxmlformats.org/officeDocument/2006/relationships/slide" Target="/ppt/slides/slide5.xml" Id="Ra4f14b60e7084f3d" /><Relationship Type="http://schemas.openxmlformats.org/officeDocument/2006/relationships/slide" Target="/ppt/slides/slide6.xml" Id="Re8e6d1a680684054" /><Relationship Type="http://schemas.openxmlformats.org/officeDocument/2006/relationships/slide" Target="/ppt/slides/slide7.xml" Id="R11f895957edd48b7" /><Relationship Type="http://schemas.openxmlformats.org/officeDocument/2006/relationships/slide" Target="/ppt/slides/slide8.xml" Id="R67f26709631f4a84" /><Relationship Type="http://schemas.openxmlformats.org/officeDocument/2006/relationships/slide" Target="/ppt/slides/slide9.xml" Id="Rc95c39de561f4419" /><Relationship Type="http://schemas.openxmlformats.org/officeDocument/2006/relationships/slide" Target="/ppt/slides/slide10.xml" Id="Rc5ac2ea0d5c54f1b" /><Relationship Type="http://schemas.openxmlformats.org/officeDocument/2006/relationships/slide" Target="/ppt/slides/slide11.xml" Id="Rf94c57df9d734559" /><Relationship Type="http://schemas.openxmlformats.org/officeDocument/2006/relationships/slide" Target="/ppt/slides/slide12.xml" Id="R4a9fbb9612c74e73" /><Relationship Type="http://schemas.openxmlformats.org/officeDocument/2006/relationships/slide" Target="/ppt/slides/slide13.xml" Id="R108ef2d29a2c4885" /><Relationship Type="http://schemas.openxmlformats.org/officeDocument/2006/relationships/slide" Target="/ppt/slides/slide14.xml" Id="Re0c3d25cd62046be" /><Relationship Type="http://schemas.openxmlformats.org/officeDocument/2006/relationships/slide" Target="/ppt/slides/slide15.xml" Id="R19dd50a937ce47f2" /><Relationship Type="http://schemas.openxmlformats.org/officeDocument/2006/relationships/slide" Target="/ppt/slides/slide16.xml" Id="R49dd8fb6361d46ad" /><Relationship Type="http://schemas.openxmlformats.org/officeDocument/2006/relationships/slide" Target="/ppt/slides/slide17.xml" Id="Rf6fa5ced5797477e" /><Relationship Type="http://schemas.openxmlformats.org/officeDocument/2006/relationships/slide" Target="/ppt/slides/slide18.xml" Id="Rc3c23cf2ba77476e" /><Relationship Type="http://schemas.openxmlformats.org/officeDocument/2006/relationships/slide" Target="/ppt/slides/slide19.xml" Id="R2318f2f2a8484e98" /><Relationship Type="http://schemas.openxmlformats.org/officeDocument/2006/relationships/slide" Target="/ppt/slides/slide20.xml" Id="R8ae4dea7ea5b4c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6832da8b4345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dc1848b148459b" /><Relationship Type="http://schemas.openxmlformats.org/officeDocument/2006/relationships/notesMaster" Target="/ppt/notesMasters/notesMaster1.xml" Id="Rfa275d570c2c419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75b394fb9449a0" /><Relationship Type="http://schemas.openxmlformats.org/officeDocument/2006/relationships/notesMaster" Target="/ppt/notesMasters/notesMaster1.xml" Id="R4474a770373b44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e2ff58a1384a0e" /><Relationship Type="http://schemas.openxmlformats.org/officeDocument/2006/relationships/notesMaster" Target="/ppt/notesMasters/notesMaster1.xml" Id="R0485aa2cac0f4f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db9bc5d706451e" /><Relationship Type="http://schemas.openxmlformats.org/officeDocument/2006/relationships/notesMaster" Target="/ppt/notesMasters/notesMaster1.xml" Id="R0484a934ae3345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327ae111174aab" /><Relationship Type="http://schemas.openxmlformats.org/officeDocument/2006/relationships/notesMaster" Target="/ppt/notesMasters/notesMaster1.xml" Id="R3bffec7fb7dc4d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da6545b03748a7" /><Relationship Type="http://schemas.openxmlformats.org/officeDocument/2006/relationships/notesMaster" Target="/ppt/notesMasters/notesMaster1.xml" Id="R7d77e03ddfb740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08979449894057" /><Relationship Type="http://schemas.openxmlformats.org/officeDocument/2006/relationships/notesMaster" Target="/ppt/notesMasters/notesMaster1.xml" Id="R89652a5e3a094f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b4cf04702e4eab" /><Relationship Type="http://schemas.openxmlformats.org/officeDocument/2006/relationships/notesMaster" Target="/ppt/notesMasters/notesMaster1.xml" Id="R4837fb715dd7424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e4dfe91bfa43c8" /><Relationship Type="http://schemas.openxmlformats.org/officeDocument/2006/relationships/notesMaster" Target="/ppt/notesMasters/notesMaster1.xml" Id="R1c6b0ead98c14e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fb7cbfbc564f4f" /><Relationship Type="http://schemas.openxmlformats.org/officeDocument/2006/relationships/notesMaster" Target="/ppt/notesMasters/notesMaster1.xml" Id="R2736d63205214d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2d77b0b5d32481b" /><Relationship Type="http://schemas.openxmlformats.org/officeDocument/2006/relationships/notesMaster" Target="/ppt/notesMasters/notesMaster1.xml" Id="R7287cb8ba8cc40a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26d483fbfd4007" /><Relationship Type="http://schemas.openxmlformats.org/officeDocument/2006/relationships/notesMaster" Target="/ppt/notesMasters/notesMaster1.xml" Id="R2e7b8c96e9f54f3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577d052a1d4b8c" /><Relationship Type="http://schemas.openxmlformats.org/officeDocument/2006/relationships/notesMaster" Target="/ppt/notesMasters/notesMaster1.xml" Id="R708d4312985843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57610323e0457d" /><Relationship Type="http://schemas.openxmlformats.org/officeDocument/2006/relationships/notesMaster" Target="/ppt/notesMasters/notesMaster1.xml" Id="R42560ca4ccc4449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599744ed634fd7" /><Relationship Type="http://schemas.openxmlformats.org/officeDocument/2006/relationships/notesMaster" Target="/ppt/notesMasters/notesMaster1.xml" Id="R0b01e57865dc4b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ea4a8b9dc114cfa" /><Relationship Type="http://schemas.openxmlformats.org/officeDocument/2006/relationships/notesMaster" Target="/ppt/notesMasters/notesMaster1.xml" Id="R987704d5cab447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c0b6b082c04ec6" /><Relationship Type="http://schemas.openxmlformats.org/officeDocument/2006/relationships/notesMaster" Target="/ppt/notesMasters/notesMaster1.xml" Id="Rf8988da7ea39428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dcc648a70e44b9" /><Relationship Type="http://schemas.openxmlformats.org/officeDocument/2006/relationships/notesMaster" Target="/ppt/notesMasters/notesMaster1.xml" Id="Rd60279961a20431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4b082c93914f01" /><Relationship Type="http://schemas.openxmlformats.org/officeDocument/2006/relationships/notesMaster" Target="/ppt/notesMasters/notesMaster1.xml" Id="R3082c242c0e94bc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29b49e7e09245b8" /><Relationship Type="http://schemas.openxmlformats.org/officeDocument/2006/relationships/notesMaster" Target="/ppt/notesMasters/notesMaster1.xml" Id="Re48f4d03bdb442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人：前端與使用情境</a:t>
            </a:r>
          </a:p>
          <a:p xmlns:a="http://schemas.openxmlformats.org/drawingml/2006/main">
            <a:r>
              <a:t>第 1 頁：ZeroGap 零空檔</a:t>
            </a:r>
          </a:p>
          <a:p xmlns:a="http://schemas.openxmlformats.org/drawingml/2006/main">
            <a:r>
              <a:t>建議講述時間：30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各位老師、各位同學大家好，我們的專題是「ZeroGap 零空檔」。我們希望把電影、餐廳和交通整合起來，讓使用者依照時間、預算與偏好，安排一趟接得上的行程。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我們分成前端、後端、JEV 和 LLM 四個部分。首先由我介紹使用情境，以及使用者會看到的操作畫面。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frontend/README.md; frontend/docs/導讀_06_改接後端v0.9.md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人：前端與使用情境</a:t>
            </a:r>
          </a:p>
          <a:p xmlns:a="http://schemas.openxmlformats.org/drawingml/2006/main">
            <a:r>
              <a:t>第 2 頁：專題動機</a:t>
            </a:r>
          </a:p>
          <a:p xmlns:a="http://schemas.openxmlformats.org/drawingml/2006/main">
            <a:r>
              <a:t>建議講述時間：55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我們在安排看電影、吃飯的活動時，通常會先查電影場次，再找附近的餐廳，最後才查交通。但是查完後，常常又需要重新調整。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例如電影時間確定了，卻發現吃飯會太趕；換一間餐廳後，又發現距離太遠，或整體費用超過預算。即使去程安排好了，也還要確認回程能不能配合。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這些資訊分散在不同地方，使用者必須自己比對。我們希望把這些重複的查詢和核對整合起來，讓使用者先設定需求，再直接比較系統整理出的行程。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frontend/README.md; frontend/docs/導讀_06_改接後端v0.9.md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人：前端與使用情境</a:t>
            </a:r>
          </a:p>
          <a:p xmlns:a="http://schemas.openxmlformats.org/drawingml/2006/main">
            <a:r>
              <a:t>第 3 頁：四步驟設定需求</a:t>
            </a:r>
          </a:p>
          <a:p xmlns:a="http://schemas.openxmlformats.org/drawingml/2006/main">
            <a:r>
              <a:t>建議講述時間：75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前端把需求分成四個步驟，讓使用者依序設定。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第一步是時間，包括哪一天出門、最早幾點可以出發，以及最晚幾點要回到出發站。第二步是地點，選擇出發車站和想去的商圈。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第三步是電影，可以指定想看的電影，也可以設定偏好，讓系統協助挑選。第四步是餐點，設定想吃的料理和每人預算。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我們用同一個情境來說明：使用者從桃園站出發，想去中壢看電影、吃飯，而且希望在指定時間內返回。他不需要先查好每一班車，也不需要自己排列所有電影和餐廳組合，只要先告訴系統自己的條件。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這些條件會送到後端，作為接下來篩選與選擇的依據。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frontend/README.md; frontend/docs/導讀_06_改接後端v0.9.md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人：前端與使用情境</a:t>
            </a:r>
          </a:p>
          <a:p xmlns:a="http://schemas.openxmlformats.org/drawingml/2006/main">
            <a:r>
              <a:t>第 4 頁：行程結果與操作回饋</a:t>
            </a:r>
          </a:p>
          <a:p xmlns:a="http://schemas.openxmlformats.org/drawingml/2006/main">
            <a:r>
              <a:t>建議講述時間：70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規劃完成後，結果頁會呈現不同方案，讓使用者看到推薦的電影、餐廳和交通安排。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我們用時間軸呈現各段活動，包含移動、看電影、用餐和返回，旁邊也會提供每人預估花費與返回時間。使用者可以先看整體安排，再決定是否符合自己的需求。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規劃過程可能需要等待，所以畫面也會顯示排隊與處理進度。如果找不到符合條件的組合，會提供調整條件的方式；有備選時，可以更換電影或餐廳。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目前更換備選後的費用和返回時間屬於估計值，原時間軸不會完整重排，因此畫面需要清楚提示，避免使用者誤解。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frontend/README.md; frontend/docs/導讀_06_改接後端v0.9.md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人：前端與使用情境</a:t>
            </a:r>
          </a:p>
          <a:p xmlns:a="http://schemas.openxmlformats.org/drawingml/2006/main">
            <a:r>
              <a:t>第 5 頁：前端實作與進度</a:t>
            </a:r>
          </a:p>
          <a:p xmlns:a="http://schemas.openxmlformats.org/drawingml/2006/main">
            <a:r>
              <a:t>建議講述時間：50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前端主要使用 React 和 TypeScript。React 用來建立不同頁面與操作元件，TypeScript 則協助我們定義和檢查資料格式。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另外，前端透過 SSE 接收後端持續傳回的進度，讓使用者知道目前正在讀資料、篩選組合，還是產生結果。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目前主要畫面、等待狀態、無解處理和備選操作都已建立，也有對應的串接程式。接下來要配合後端，驗證完整流程，並確認手機與電腦上的操作是否清楚順暢。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【交接｜約 20 秒】</a:t>
            </a:r>
          </a:p>
          <a:p xmlns:a="http://schemas.openxmlformats.org/drawingml/2006/main">
            <a:r>
              <a:t>以上是使用者看到的操作流程。當使用者送出條件後，系統還需要整合資料、查詢交通並排除不合適的組合。接下來由後端組員介紹這部分。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frontend/README.md; frontend/docs/導讀_06_改接後端v0.9.md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人：後端與行程規劃</a:t>
            </a:r>
          </a:p>
          <a:p xmlns:a="http://schemas.openxmlformats.org/drawingml/2006/main">
            <a:r>
              <a:t>第 6 頁：系統整體架構</a:t>
            </a:r>
          </a:p>
          <a:p xmlns:a="http://schemas.openxmlformats.org/drawingml/2006/main">
            <a:r>
              <a:t>建議講述時間：45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接下來介紹後端。使用者在前端送出條件後，後端會接收請求，讀取電影與餐廳資料，並查詢需要的交通資訊。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接著，程式先篩出符合條件的組合，再讓 JEV 參與候選選擇；需要時，也會請 LLM 協助代選。最後，後端會確認細節，建立時間軸，再把結果送回前端。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因此，後端除了提供資料，也負責串起整個規劃流程。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app/planner.py; docs/backend-spec.md;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人：後端與行程規劃</a:t>
            </a:r>
          </a:p>
          <a:p xmlns:a="http://schemas.openxmlformats.org/drawingml/2006/main">
            <a:r>
              <a:t>第 7 頁：資料來源與更新</a:t>
            </a:r>
          </a:p>
          <a:p xmlns:a="http://schemas.openxmlformats.org/drawingml/2006/main">
            <a:r>
              <a:t>建議講述時間：55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我們的資料主要分成電影、餐廳和交通三類。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電影與場次來自開眼電影網，透過定期蒐集更新。餐廳目前已有 OpenStreetMap 資料的匯入流程，Google Places 的串接程式也已準備好，但仍需要金鑰實測。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交通與車站資料來自 TDX。車站資料可以先匯入，實際規劃時，再查詢需要的交通路線。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我們將資料蒐集和使用者規劃分開處理，讓可以事先準備的資料先完成更新。規劃時再查詢當次需要的資訊，減少每次都從頭抓取資料的負擔。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app/planner.py; docs/backend-spec.md;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人：後端與行程規劃</a:t>
            </a:r>
          </a:p>
          <a:p xmlns:a="http://schemas.openxmlformats.org/drawingml/2006/main">
            <a:r>
              <a:t>第 8 頁：行程可行性篩選</a:t>
            </a:r>
          </a:p>
          <a:p xmlns:a="http://schemas.openxmlformats.org/drawingml/2006/main">
            <a:r>
              <a:t>建議講述時間：85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後端的核心工作，是確認行程在條件上能不能成立。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前面到中壢看電影、吃飯的情境來說，即使有很多電影和餐廳，也不是每一種搭配都接得上。我們需要檢查，使用者出發後能不能趕上場次，電影和用餐之間有沒有足夠的移動時間，以及最後能不能在指定時間返回出發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除此之外，也會檢查步行限制、每人預算，以及可取得的營業時間。如果營業時間無法確認，結果會提示使用者向店家確認。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這些判斷由程式依照資料與規則計算。某間餐廳即使很符合料理偏好，如果時間接不上，也不應該進入後面的推薦。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所以我們先處理可行性，再處理偏好選擇。也要注意，預估費用和用餐時間仍有假設，後續需要持續驗證。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app/planner.py; docs/backend-spec.md;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人：後端與行程規劃</a:t>
            </a:r>
          </a:p>
          <a:p xmlns:a="http://schemas.openxmlformats.org/drawingml/2006/main">
            <a:r>
              <a:t>第 9 頁：後端技術與用途</a:t>
            </a:r>
          </a:p>
          <a:p xmlns:a="http://schemas.openxmlformats.org/drawingml/2006/main">
            <a:r>
              <a:t>建議講述時間：60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後端使用的技術，可以對應到幾個具體需求。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FastAPI 負責接收使用者條件，提供資料和規劃結果。PostgreSQL 保存電影、餐廳與車站等資料，搭配 PostGIS 處理位置和距離查詢。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Redis 用在快取、呼叫頻率限制，以及規劃進度訊息。因為外部服務有呼叫限制，已經查過且仍可使用的結果，可以透過快取減少重複查詢。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規劃和資料更新則交給 RQ 的背景工作執行。這些工作需要等待外部服務，因此我們會持續傳回進度，讓使用者知道目前處理到哪裡。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app/planner.py; docs/backend-spec.md;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人：後端與行程規劃</a:t>
            </a:r>
          </a:p>
          <a:p xmlns:a="http://schemas.openxmlformats.org/drawingml/2006/main">
            <a:r>
              <a:t>第 10 頁：後端成果與後續工作</a:t>
            </a:r>
          </a:p>
          <a:p xmlns:a="http://schemas.openxmlformats.org/drawingml/2006/main">
            <a:r>
              <a:t>建議講述時間：35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目前已建立資料匯入、條件篩選、交通查詢及時間軸產生的流程，也有使用真實電影、餐廳和交通資料排行程的紀錄。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但不同外部服務的驗證進度並不相同。下一步會完成前後端的整體測試，補上待驗證的服務，並評估規劃耗時與資料品質。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【交接｜約 20 秒】</a:t>
            </a:r>
          </a:p>
          <a:p xmlns:a="http://schemas.openxmlformats.org/drawingml/2006/main">
            <a:r>
              <a:t>後端先找出條件上可行的組合，但可行的選項可能還有很多。接下來由 JEV 組員說明，系統怎麼把使用者偏好和候選資料整理起來，進一步做選擇與排名。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app/planner.py; docs/backend-spec.md;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人：JEV 與候選選擇</a:t>
            </a:r>
          </a:p>
          <a:p xmlns:a="http://schemas.openxmlformats.org/drawingml/2006/main">
            <a:r>
              <a:t>第 11 頁：JEV 的角色</a:t>
            </a:r>
          </a:p>
          <a:p xmlns:a="http://schemas.openxmlformats.org/drawingml/2006/main">
            <a:r>
              <a:t>建議講述時間：40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我的部分是 JEV。前面後端已經先排除不符合條件的組合，接下來要處理的是，在剩下的候選中，哪些比較符合使用者偏好。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在我們的專案裡，JEV 參與電影、餐廳和交通路線的選擇。程式會提供題目、候選及相關屬性，再讀取回傳結果，作為後續選擇與排名的依據。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app/jev/client.py; app/planning/choose.py; app/config.py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人：JEV 與候選選擇</a:t>
            </a:r>
          </a:p>
          <a:p xmlns:a="http://schemas.openxmlformats.org/drawingml/2006/main">
            <a:r>
              <a:t>第 12 頁：候選如何變成選擇題</a:t>
            </a:r>
          </a:p>
          <a:p xmlns:a="http://schemas.openxmlformats.org/drawingml/2006/main">
            <a:r>
              <a:t>建議講述時間：70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要讓 JEV 做選擇，首先需要把資料整理成明確的題目。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以選餐廳為例，使用者的需求包含想吃的料理和每人預算。候選餐廳則會附上料理類別、價位區間、用餐時間、步行時間，以及約會適合度等屬性。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這樣一來，題目就有比較清楚的判斷依據：使用者希望吃什麼、有哪些可選的餐廳，以及它們之間有什麼差異。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電影和交通也使用類似的方式整理，但屬性會依題目改變，例如電影會有片型和片長，交通則會考慮搭乘、步行及轉乘等資訊。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JEV 回傳各候選的機率後，程式再把這些結果接回規劃流程。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app/jev/client.py; app/planning/choose.py; app/config.py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人：JEV 與候選選擇</a:t>
            </a:r>
          </a:p>
          <a:p xmlns:a="http://schemas.openxmlformats.org/drawingml/2006/main">
            <a:r>
              <a:t>第 13 頁：機率與方案排名</a:t>
            </a:r>
          </a:p>
          <a:p xmlns:a="http://schemas.openxmlformats.org/drawingml/2006/main">
            <a:r>
              <a:t>建議講述時間：75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拿到電影和餐廳的選項機率後，我們目前用兩者相乘的方式，計算組合的排名分數。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這裡用示意數值說明：如果電影 A 的機率是零點七，餐廳 B 的機率是零點六，這個組合的排名分數就是零點四二。程式會依照這個分數，排列已經通過可行性篩選的組合。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如果分數相同，會再比較時間緩衝，優先考慮比較不緊迫的安排。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這個零點四二是專案自己採用的排序分數，不能解讀成行程只有百分之四十二的成功率。行程是否符合時間、預算等條件，仍然是由後端的檢查來處理。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排名方式本身也需要透過案例測試，確認是否符合團隊預期。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app/jev/client.py; app/planning/choose.py; app/config.py</a:t>
            </a:r>
          </a:p>
          <a:p xmlns:a="http://schemas.openxmlformats.org/drawingml/2006/main">
            <a:r>
              <a:t>進度以報告前最後一次確認為準。</a:t>
            </a:r>
          </a:p>
          <a:p xmlns:a="http://schemas.openxmlformats.org/drawingml/2006/main">
            <a:r>
              <a:t>本頁數值或回傳範例為示意，不是正式服務實測結果。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人：JEV 與候選選擇</a:t>
            </a:r>
          </a:p>
          <a:p xmlns:a="http://schemas.openxmlformats.org/drawingml/2006/main">
            <a:r>
              <a:t>第 14 頁：LLM 代選的觸發條件</a:t>
            </a:r>
          </a:p>
          <a:p xmlns:a="http://schemas.openxmlformats.org/drawingml/2006/main">
            <a:r>
              <a:t>建議講述時間：60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JEV 回傳的機率有時候會集中在某個選項，有時候則比較分散。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目前程式設定的門檻是零點六。如果某一題最高選項機率低於零點六，就請 LLM 從機率前三名中代選。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例如這組示意數值是零點四、零點三五和零點二五，最高值低於門檻，就會進入代選流程。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這裡要特別區分，程式看的是最高選項機率，並沒有使用回應裡另外一個叫作 confidence 的欄位。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零點六目前是設定值，後續會觀察不同候選數量和案例下，觸發代選的頻率，再決定是否調整。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app/jev/client.py; app/planning/choose.py; app/config.py</a:t>
            </a:r>
          </a:p>
          <a:p xmlns:a="http://schemas.openxmlformats.org/drawingml/2006/main">
            <a:r>
              <a:t>進度以報告前最後一次確認為準。</a:t>
            </a:r>
          </a:p>
          <a:p xmlns:a="http://schemas.openxmlformats.org/drawingml/2006/main">
            <a:r>
              <a:t>本頁數值或回傳範例為示意，不是正式服務實測結果。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人：JEV 與候選選擇</a:t>
            </a:r>
          </a:p>
          <a:p xmlns:a="http://schemas.openxmlformats.org/drawingml/2006/main">
            <a:r>
              <a:t>第 15 頁：JEV 進度與驗證計畫</a:t>
            </a:r>
          </a:p>
          <a:p xmlns:a="http://schemas.openxmlformats.org/drawingml/2006/main">
            <a:r>
              <a:t>建議講述時間：35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目前已經有模擬版與正式服務串接程式，也完成候選題目、回應解析、排名和代選觸發邏輯。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正式服務仍待金鑰實測。接下來會用固定案例檢查選擇是否合理，同時記錄回應時間與 LLM 代選比例，作為調整依據。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【交接｜約 20 秒】</a:t>
            </a:r>
          </a:p>
          <a:p xmlns:a="http://schemas.openxmlformats.org/drawingml/2006/main">
            <a:r>
              <a:t>以上是 JEV 的選擇與排名流程。當機率低於門檻時，會交給 LLM 協助處理。LLM 也負責部分資料屬性判斷，接下來由最後一位組員介紹。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app/jev/client.py; app/planning/choose.py; app/config.py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人：LLM、限制與後續規劃</a:t>
            </a:r>
          </a:p>
          <a:p xmlns:a="http://schemas.openxmlformats.org/drawingml/2006/main">
            <a:r>
              <a:t>第 16 頁：LLM 的兩個使用時機</a:t>
            </a:r>
          </a:p>
          <a:p xmlns:a="http://schemas.openxmlformats.org/drawingml/2006/main">
            <a:r>
              <a:t>建議講述時間：40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我們透過本機 Ollama 呼叫語言模型，目前主要有兩個使用時機。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第一個是資料匯入時，協助判斷餐廳屬性與電影片型。第二個是行程規劃時，當 JEV 最高選項機率低於門檻，就從候選中協助代選。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接下來我會分別說明這兩種用途，以及遇到錯誤時的處理方式。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app/llm.py; app/judge.py;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人：LLM、限制與後續規劃</a:t>
            </a:r>
          </a:p>
          <a:p xmlns:a="http://schemas.openxmlformats.org/drawingml/2006/main">
            <a:r>
              <a:t>第 17 頁：資料屬性判斷</a:t>
            </a:r>
          </a:p>
          <a:p xmlns:a="http://schemas.openxmlformats.org/drawingml/2006/main">
            <a:r>
              <a:t>建議講述時間：75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外部資料不一定包含規劃所需的所有欄位。例如我們可能取得餐廳名稱與部分標籤，但沒有完整的價位區間或用餐時間。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目前做法是優先使用可取得的既有資料，需要補充的屬性再交給模型判斷。餐廳的判斷包含料理類別、價位區間、用餐時間，以及約會適合度。電影則會根據片名、簡介與出品國，從預先定義的片型中選擇。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這些結果能讓後面的篩選和選擇有資料可用，但模型判斷仍然可能錯誤。例如把套餐餐廳的價位或用餐時間判得太低，就可能影響整個行程。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因此，我們需要保留這些是推估的觀念，並透過抽樣核對，找出常見錯誤類型。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app/llm.py; app/judge.py;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人：LLM、限制與後續規劃</a:t>
            </a:r>
          </a:p>
          <a:p xmlns:a="http://schemas.openxmlformats.org/drawingml/2006/main">
            <a:r>
              <a:t>第 18 頁：候選代選與輸出限制</a:t>
            </a:r>
          </a:p>
          <a:p xmlns:a="http://schemas.openxmlformats.org/drawingml/2006/main">
            <a:r>
              <a:t>建議講述時間：70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第二個用途是候選代選。程式會先取得 JEV 機率前三名，提供使用者偏好及候選屬性，請 LLM 從中選一個。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為了讓後端能直接處理結果，我們限制模型使用固定 JSON 格式，回傳候選代碼。例如投影片上的示意答案，代表選擇代碼 r12 的餐廳。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程式收到答案後，還會檢查它是不是提供的候選之一。如果模型回傳清單以外的代碼，就不能直接使用。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這樣可以讓輸出格式與選項範圍受到限制。不過，格式正確不等於選擇一定合理，所以後續仍需要用固定案例比較結果，而不是只檢查有沒有成功回傳。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app/llm.py; app/judge.py;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  <a:p xmlns:a="http://schemas.openxmlformats.org/drawingml/2006/main">
            <a:r>
              <a:t>本頁數值或回傳範例為示意，不是正式服務實測結果。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人：LLM、限制與後續規劃</a:t>
            </a:r>
          </a:p>
          <a:p xmlns:a="http://schemas.openxmlformats.org/drawingml/2006/main">
            <a:r>
              <a:t>第 19 頁：錯誤處理與目前限制</a:t>
            </a:r>
          </a:p>
          <a:p xmlns:a="http://schemas.openxmlformats.org/drawingml/2006/main">
            <a:r>
              <a:t>建議講述時間：50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目前的錯誤處理分成兩種。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候選代選如果逾時、連線失敗，或回答不合法，就採用 JEV 原本最高機率的選項，讓流程能繼續。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資料屬性判斷失敗時，則保留缺值。如果餐廳缺少必要的價位或用餐時間，就不納入規劃。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另外一種比較難發現的情況，是模型回答格式正確，但內容其實不準。這需要靠抽樣核對改善。除了品質，我們也會觀察模型推論增加多少等待時間。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app/llm.py; app/judge.py;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人：LLM、限制與後續規劃</a:t>
            </a:r>
          </a:p>
          <a:p xmlns:a="http://schemas.openxmlformats.org/drawingml/2006/main">
            <a:r>
              <a:t>第 20 頁：整體進度與下一階段</a:t>
            </a:r>
          </a:p>
          <a:p xmlns:a="http://schemas.openxmlformats.org/drawingml/2006/main">
            <a:r>
              <a:t>建議講述時間：45 秒</a:t>
            </a:r>
          </a:p>
          <a:p xmlns:a="http://schemas.openxmlformats.org/drawingml/2006/main">
            <a:r>
              <a:t>本段 5 頁共 4 分 40 秒，另留 20 秒交接或收尾。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【講稿】</a:t>
            </a:r>
          </a:p>
          <a:p xmlns:a="http://schemas.openxmlformats.org/drawingml/2006/main">
            <a:r>
              <a:t>最後整理整組進度。目前前端已有主要畫面與串接程式，後端已有資料整合和規劃流程，JEV 的正式串接程式已備妥，等待金鑰實測；LLM 則已參與資料判斷，也有候選代選的實作。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下一階段，我們會先完成整套系統的串接驗證，再用共同案例檢查行程結果，同時記錄規劃耗時、資料錯誤與改善情況，確認系統在實際操作時的表現。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【收尾｜約 20 秒】</a:t>
            </a:r>
          </a:p>
          <a:p xmlns:a="http://schemas.openxmlformats.org/drawingml/2006/main">
            <a:r>
              <a:t>我們希望讓使用者設定需求後，就能取得符合條件、容易理解的行程方案。接下來會以完整串接、資料品質和實測結果作為主要改善方向。以上是我們的初步報告，謝謝大家。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【資料依據，無需口述】</a:t>
            </a:r>
          </a:p>
          <a:p xmlns:a="http://schemas.openxmlformats.org/drawingml/2006/main">
            <a:r>
              <a:t>依本專題資料夾與團隊確認內容整理（2026-10-21）。</a:t>
            </a:r>
          </a:p>
          <a:p xmlns:a="http://schemas.openxmlformats.org/drawingml/2006/main">
            <a:r>
              <a:t>app/llm.py; app/judge.py; docs/spec-discussion.md</a:t>
            </a:r>
          </a:p>
          <a:p xmlns:a="http://schemas.openxmlformats.org/drawingml/2006/main">
            <a:r>
              <a:t>進度以報告前最後一次確認為準。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9c8f2eda844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a002af2c6a461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bdf1f3b25437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7060c6dc444b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638a62e3c4a7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1d595139c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9E689F5-87BC-4DA9-838E-F88FEF907F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DC0364-D615-4BCD-B19D-6F92FDB0DC4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95DED9-94D3-4157-81CF-3B8E86D890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A2ED40-9259-49C9-9EE1-E5D4876C9D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4579211-6AB8-4CC0-9E0A-64AD98209F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807FE36-48A0-4D08-A979-DC28A78B6A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87AB972-AA81-4AE0-8534-69CE673F25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23804DA-D212-47BE-9565-21D9C30D00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0A27DC-4D2D-465D-A829-5D12FFAE2A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6236E4-3918-46E7-A118-C6D7F75308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424c335ccf4da1" /><Relationship Type="http://schemas.openxmlformats.org/officeDocument/2006/relationships/slideLayout" Target="/ppt/slideLayouts/slideLayout1.xml" Id="Ref16350801524f80" /><Relationship Type="http://schemas.openxmlformats.org/officeDocument/2006/relationships/slideLayout" Target="/ppt/slideLayouts/slideLayout2.xml" Id="R5cbd3eb9ff7641e7" /><Relationship Type="http://schemas.openxmlformats.org/officeDocument/2006/relationships/slideLayout" Target="/ppt/slideLayouts/slideLayout3.xml" Id="Rb4dee51741b94fe9" /><Relationship Type="http://schemas.openxmlformats.org/officeDocument/2006/relationships/slideLayout" Target="/ppt/slideLayouts/slideLayout4.xml" Id="R491fc135123e4a99" /><Relationship Type="http://schemas.openxmlformats.org/officeDocument/2006/relationships/slideLayout" Target="/ppt/slideLayouts/slideLayout5.xml" Id="R3d43342f680641e3" /><Relationship Type="http://schemas.openxmlformats.org/officeDocument/2006/relationships/slideLayout" Target="/ppt/slideLayouts/slideLayout6.xml" Id="Rc1e67eabbb9147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16350801524f80"/>
    <p:sldLayoutId xmlns:r="http://schemas.openxmlformats.org/officeDocument/2006/relationships" id="2147483650" r:id="R5cbd3eb9ff7641e7"/>
    <p:sldLayoutId xmlns:r="http://schemas.openxmlformats.org/officeDocument/2006/relationships" id="2147483651" r:id="Rb4dee51741b94fe9"/>
    <p:sldLayoutId xmlns:r="http://schemas.openxmlformats.org/officeDocument/2006/relationships" id="2147483652" r:id="R491fc135123e4a99"/>
    <p:sldLayoutId xmlns:r="http://schemas.openxmlformats.org/officeDocument/2006/relationships" id="2147483653" r:id="R3d43342f680641e3"/>
    <p:sldLayoutId xmlns:r="http://schemas.openxmlformats.org/officeDocument/2006/relationships" id="2147483654" r:id="Rc1e67eabbb9147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81b2b61d274b7e" /><Relationship Type="http://schemas.openxmlformats.org/officeDocument/2006/relationships/notesSlide" Target="/ppt/notesSlides/notesSlide1.xml" Id="R1293d6cb8e0446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2b78ab9444edd" /><Relationship Type="http://schemas.openxmlformats.org/officeDocument/2006/relationships/notesSlide" Target="/ppt/notesSlides/notesSlide2.xml" Id="Rf51350bd5a5846c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2c593d5d04fef" /><Relationship Type="http://schemas.openxmlformats.org/officeDocument/2006/relationships/notesSlide" Target="/ppt/notesSlides/notesSlide3.xml" Id="Rfaf276e880f649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5735ec407442de" /><Relationship Type="http://schemas.openxmlformats.org/officeDocument/2006/relationships/notesSlide" Target="/ppt/notesSlides/notesSlide4.xml" Id="R576bdd6a760b400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60f8c1923488d" /><Relationship Type="http://schemas.openxmlformats.org/officeDocument/2006/relationships/notesSlide" Target="/ppt/notesSlides/notesSlide5.xml" Id="R9ac085aac6c348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7fd69cb47d4b36" /><Relationship Type="http://schemas.openxmlformats.org/officeDocument/2006/relationships/notesSlide" Target="/ppt/notesSlides/notesSlide6.xml" Id="Ra285acd07f8245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5e64dbc6e3455e" /><Relationship Type="http://schemas.openxmlformats.org/officeDocument/2006/relationships/notesSlide" Target="/ppt/notesSlides/notesSlide7.xml" Id="Re4d13d614ec847c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e45d8ad7014352" /><Relationship Type="http://schemas.openxmlformats.org/officeDocument/2006/relationships/notesSlide" Target="/ppt/notesSlides/notesSlide8.xml" Id="Ra71c03b4ae5642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3093ecc1a742d8" /><Relationship Type="http://schemas.openxmlformats.org/officeDocument/2006/relationships/notesSlide" Target="/ppt/notesSlides/notesSlide9.xml" Id="R6d8b36eedd6b4c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28ce4c9a494624" /><Relationship Type="http://schemas.openxmlformats.org/officeDocument/2006/relationships/notesSlide" Target="/ppt/notesSlides/notesSlide10.xml" Id="R589f6093a2e0428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73317a64634151" /><Relationship Type="http://schemas.openxmlformats.org/officeDocument/2006/relationships/notesSlide" Target="/ppt/notesSlides/notesSlide11.xml" Id="Ra2f2e34a6fff49b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8fe27acb194468" /><Relationship Type="http://schemas.openxmlformats.org/officeDocument/2006/relationships/notesSlide" Target="/ppt/notesSlides/notesSlide12.xml" Id="R7a15b8a19d7949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7d11d9f2d048e3" /><Relationship Type="http://schemas.openxmlformats.org/officeDocument/2006/relationships/notesSlide" Target="/ppt/notesSlides/notesSlide13.xml" Id="R36899b4b243745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7185f0221e4604" /><Relationship Type="http://schemas.openxmlformats.org/officeDocument/2006/relationships/notesSlide" Target="/ppt/notesSlides/notesSlide14.xml" Id="Rccd33eef4b7c41c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40ea06dae54731" /><Relationship Type="http://schemas.openxmlformats.org/officeDocument/2006/relationships/notesSlide" Target="/ppt/notesSlides/notesSlide15.xml" Id="Rc36d5fbb2dab43b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c22eeaef9542cb" /><Relationship Type="http://schemas.openxmlformats.org/officeDocument/2006/relationships/notesSlide" Target="/ppt/notesSlides/notesSlide16.xml" Id="R1ff81d6aed3740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35b2d62c44e73" /><Relationship Type="http://schemas.openxmlformats.org/officeDocument/2006/relationships/notesSlide" Target="/ppt/notesSlides/notesSlide17.xml" Id="R2b64041797204fe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8604b36754a19" /><Relationship Type="http://schemas.openxmlformats.org/officeDocument/2006/relationships/notesSlide" Target="/ppt/notesSlides/notesSlide18.xml" Id="Rf9a6ad4a8766480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24e62b84ba40a5" /><Relationship Type="http://schemas.openxmlformats.org/officeDocument/2006/relationships/notesSlide" Target="/ppt/notesSlides/notesSlide19.xml" Id="Rbbdb00951c15449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6cbefb32b9429a" /><Relationship Type="http://schemas.openxmlformats.org/officeDocument/2006/relationships/notesSlide" Target="/ppt/notesSlides/notesSlide20.xml" Id="R9dd108914cad4a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3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">
            <a:extLst xmlns:a="http://schemas.openxmlformats.org/drawingml/2006/main">
              <a:ext uri="{FF2B5EF4-FFF2-40B4-BE49-F238E27FC236}">
                <a16:creationId xmlns:a16="http://schemas.microsoft.com/office/drawing/2014/main" id="{89711253-E07E-489B-A6E9-E5FD3179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3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ZeroGap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8095C5B-4C6B-4300-93EE-1C3CA22B2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1  /  前端與使用情境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9C42F86-8B56-403D-9DDA-6D731689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DA3D73C-3ADB-4CC1-8FC0-BA967895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952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rPr>
              <a:t>零空檔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9B3AD37-2962-48DF-8D12-4E8CAC5D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電影、餐廳與交通的整合行程規劃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ACB2F38-476A-42B8-A6E9-B84575FB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744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C8DBDF"/>
                </a:solidFill>
                <a:latin typeface="Microsoft JhengHei"/>
                <a:ea typeface="Microsoft JhengHei"/>
                <a:cs typeface="Microsoft JhengHei"/>
              </a:rPr>
              <a:t>依照時間、預算與偏好，安排接得上的行程。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BECF177-914A-481D-B2BA-F9B3CE2D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rPr>
              <a:t>前端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B0BFF51-EC91-4FAD-AC14-719C882A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操作介面與結果呈現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D513A0B-5217-4575-8A37-10D14DB58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810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rPr>
              <a:t>後端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D5D30BE-1C1C-414F-852A-18B80B61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2768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資料整合與行程規劃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66B4963B-9181-4208-9E7C-47511BA6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10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rPr>
              <a:t>JEV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B3A5F4F2-6F2F-4424-B85A-C581F393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768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候選選擇與方案排名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8FBD3387-CD9E-4A3C-81BC-ACA576FA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810125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67DBCF"/>
                </a:solidFill>
                <a:latin typeface="Microsoft JhengHei"/>
                <a:ea typeface="Microsoft JhengHei"/>
                <a:cs typeface="Microsoft JhengHei"/>
              </a:rPr>
              <a:t>LLM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B947C86E-3C5F-4A29-AB7D-82738673B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276850"/>
            <a:ext cx="2400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資料屬性判斷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與候選代選</a:t>
            </a:r>
          </a:p>
        </p:txBody>
      </p:sp>
    </p:spTree>
    <p:extLst>
      <p:ext uri="{BB962C8B-B14F-4D97-AF65-F5344CB8AC3E}">
        <p14:creationId xmlns:p14="http://schemas.microsoft.com/office/powerpoint/2010/main" val="1307685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">
            <a:extLst xmlns:a="http://schemas.openxmlformats.org/drawingml/2006/main">
              <a:ext uri="{FF2B5EF4-FFF2-40B4-BE49-F238E27FC236}">
                <a16:creationId xmlns:a16="http://schemas.microsoft.com/office/drawing/2014/main" id="{E78B8716-5C27-4C58-9296-2115770A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專題動機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96EE91D4-410A-4E09-A8A3-0F5A2B79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  /  前端與使用情境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8D373ED-D50C-4DFA-B51B-08A3FFF8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2F6152C-D643-4221-ADAA-B4B7B98F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把分散的資訊，整理成可以直接比較的行程。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7D3AC76A-E44E-4898-881C-0B09EE4A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安排一次出遊，需要反覆查詢與核對。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3DAD8F0-A0A4-4E9F-8665-D361655E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電影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78B2F7EC-15E5-4055-A271-B9FEBCCC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5742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場次能不能配合出門時間？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8C7FE272-C4B6-44E9-8C73-79A35C2B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餐廳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68481C2D-7347-4B34-8F60-A11E476E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吃完是否趕得上電影？店家是否營業？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86578DF7-4A26-432A-9168-B287A145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交通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BD692137-D1A8-49BE-86E2-6F4F0FED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004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怎麼去、怎麼回？能否準時返回？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0202E526-1940-41F5-875C-B2EFEB58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預算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DCB66CA5-E9AE-47D4-8BDA-912EB0E8D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572000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餐費、票價與車資加起來是否超支？</a:t>
            </a:r>
          </a:p>
        </p:txBody>
      </p:sp>
    </p:spTree>
    <p:extLst>
      <p:ext uri="{BB962C8B-B14F-4D97-AF65-F5344CB8AC3E}">
        <p14:creationId xmlns:p14="http://schemas.microsoft.com/office/powerpoint/2010/main" val="231405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">
            <a:extLst xmlns:a="http://schemas.openxmlformats.org/drawingml/2006/main">
              <a:ext uri="{FF2B5EF4-FFF2-40B4-BE49-F238E27FC236}">
                <a16:creationId xmlns:a16="http://schemas.microsoft.com/office/drawing/2014/main" id="{EB7D3DBA-FA27-47E6-AAA4-40D4A89E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四步驟設定需求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7DD0CF4-BB0D-47C9-8434-2B4CF542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  /  前端與使用情境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CF65548-D700-4049-B90D-CA594F5C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F3F65EB-D770-42A3-A51E-14B90366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示範情境：桃園站出發 → 中壢看電影、吃飯 → 指定時間返回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3460092E-7C6C-4855-B595-493E7570D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01  時間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33D9354-EEDC-40ED-A2CD-AB38B9AD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430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日期、最早出門與最晚返回時間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F8F1B34-226B-44BF-BD58-2A589F75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02  地點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1EF3E4C-67E1-45BA-A917-0CD075A0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14600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出發車站與目的商圈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56E48D30-7BCD-4E30-9764-97316BF9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03  電影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FE6F6E61-4D06-41EA-8733-293958D4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指定電影或設定偏好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856D590C-294D-4143-A44E-BAF10EB65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04  餐點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59E0ED24-F6D1-470A-B6AE-CED620A63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057650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料理偏好與每人預算</a:t>
            </a:r>
          </a:p>
        </p:txBody>
      </p:sp>
    </p:spTree>
    <p:extLst>
      <p:ext uri="{BB962C8B-B14F-4D97-AF65-F5344CB8AC3E}">
        <p14:creationId xmlns:p14="http://schemas.microsoft.com/office/powerpoint/2010/main" val="15598995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">
            <a:extLst xmlns:a="http://schemas.openxmlformats.org/drawingml/2006/main">
              <a:ext uri="{FF2B5EF4-FFF2-40B4-BE49-F238E27FC236}">
                <a16:creationId xmlns:a16="http://schemas.microsoft.com/office/drawing/2014/main" id="{CD4530F0-DC7C-4267-BA0F-70A79A3D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行程結果與操作回饋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7B09E12-031D-4A24-AB21-5BDB4150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  /  前端與使用情境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49B2F8EF-03A4-41D6-940F-96A2E2FE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74450407-9067-4CE5-A09F-A1C65323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※ 備選切換後的費用與返回時間為估計值，原時間軸不會完整重排。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9FF0C9A9-2076-4104-882B-3E8BCA49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方案比較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601CF45-BF04-4607-AC05-570B8F6A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430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推薦的電影、餐廳與交通安排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3A88E6E-4740-4F7E-B4B8-07490BBE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行程時間軸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F7592771-A813-4CF9-8265-DBC81BE2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982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各段活動時間與移動順序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B61F3831-5B91-4E37-AE79-25B1C39B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費用資訊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FB176AFD-080C-4C69-9F6C-1B664600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765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每人預估花費與返回時間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722C0060-C687-4E1B-83BD-B37C302C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規劃進度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96585262-58A9-4D29-ABFC-D9177029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4332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排隊及處理階段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0B7437A2-D1B4-4BD1-81E5-A72820F5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調整方式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CECD9419-8676-4E88-A8EF-4E852EAF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100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無解時放寬條件，有備選時更換項目</a:t>
            </a:r>
          </a:p>
        </p:txBody>
      </p:sp>
    </p:spTree>
    <p:extLst>
      <p:ext uri="{BB962C8B-B14F-4D97-AF65-F5344CB8AC3E}">
        <p14:creationId xmlns:p14="http://schemas.microsoft.com/office/powerpoint/2010/main" val="10663482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BE6002C0-060C-4BEC-994B-E18D2DC8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前端實作與進度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42D7665-32EA-4937-88A3-BF196DB6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  /  前端與使用情境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445798C-9BEE-4C1A-ACFA-C977AC51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7497AB4-58C5-4A83-8D1B-BF978C8B1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技術與用途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FE9D3409-C215-4064-B545-01248C7A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React：建立條件設定與結果頁面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53DA3B58-6F01-497E-8283-012951E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TypeScript：定義資料格式，協助檢查錯誤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6DACA775-DEC7-41CE-8106-E1C5EB36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SSE：接收後端持續傳回的規劃進度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E91518E6-3BD2-4E8A-B08C-BC6FF482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38325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目前進度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AC150C31-76C4-4E7B-BFB7-95844F3C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主要頁面與串接程式已建立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D62E050F-5F5D-45B4-B610-55BC43C7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已設計等待、無解及備選操作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B0EC8A8B-8360-48B8-B0F2-8445F311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3425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下一步：驗證完整流程與不同裝置的體驗</a:t>
            </a:r>
          </a:p>
        </p:txBody>
      </p:sp>
    </p:spTree>
    <p:extLst>
      <p:ext uri="{BB962C8B-B14F-4D97-AF65-F5344CB8AC3E}">
        <p14:creationId xmlns:p14="http://schemas.microsoft.com/office/powerpoint/2010/main" val="9412760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">
            <a:extLst xmlns:a="http://schemas.openxmlformats.org/drawingml/2006/main">
              <a:ext uri="{FF2B5EF4-FFF2-40B4-BE49-F238E27FC236}">
                <a16:creationId xmlns:a16="http://schemas.microsoft.com/office/drawing/2014/main" id="{67468BC4-61CE-4872-A4D4-D4DC1613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系統整體架構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A354A0D-BA33-4E14-8FA8-A1DF8BAC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2  /  後端與行程規劃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4A90ED1-A02A-435D-A57F-41184F8B3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4EF71B7-9BCA-4085-B1A5-7B8F8784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B0E39FA-F8D1-411E-AA18-7AB3F7C0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430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使用者設定條件，前端送出規劃請求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8500A462-47A5-442E-BFD0-7375BB2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FCA5F6E5-300D-4CFD-A25F-BE1B3D36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2412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後端讀取資料、查詢交通並篩選組合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BDD66807-D7C0-46A6-9023-C02A6BA6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F34176E-048F-4FE2-8B0A-DDF2B23C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3051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JEV 選擇候選，必要時由 LLM 代選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A06A0F28-A1DA-4406-AAD6-2F74D8B9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7C152988-9736-4A02-A96B-EE333911A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8622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後端確認細節、建立時間軸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73B88AF0-EFB4-4394-800A-70AAC814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857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960EC1A0-C437-4CCE-A564-A535F1A7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867275"/>
            <a:ext cx="962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前端呈現行程結果</a:t>
            </a:r>
          </a:p>
        </p:txBody>
      </p:sp>
    </p:spTree>
    <p:extLst>
      <p:ext uri="{BB962C8B-B14F-4D97-AF65-F5344CB8AC3E}">
        <p14:creationId xmlns:p14="http://schemas.microsoft.com/office/powerpoint/2010/main" val="15338943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72320B5D-1C9C-41A9-88EC-A2FAABB2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資料來源與更新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5F7A61D-AAB6-439E-900C-55E6F742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2  /  後端與行程規劃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225859E-D5C9-4AA0-B85F-E277BD64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8DC69F0-085C-486D-BF14-048EFB19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資料蒐集先行，規劃時再查詢需要的即時資訊。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C5F90-8BAA-4173-8FD5-C487812D1DF5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2571750"/>
                <a:gridCol w="5962650"/>
              </a:tblGrid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來源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</a:tr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電影與場次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開眼電影網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定期蒐集與更新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餐廳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OpenStreetMap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匯入店家資料並補充屬性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餐廳擴充來源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Google Places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串接程式已備妥，待金鑰實測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交通與車站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TDX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匯入車站，規劃時查詢交通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684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1">
            <a:extLst xmlns:a="http://schemas.openxmlformats.org/drawingml/2006/main">
              <a:ext uri="{FF2B5EF4-FFF2-40B4-BE49-F238E27FC236}">
                <a16:creationId xmlns:a16="http://schemas.microsoft.com/office/drawing/2014/main" id="{7328A760-E26F-41C8-8F46-74CDDF1D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行程可行性篩選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1449D97B-F4D3-42CF-96CE-853D5207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2  /  後端與行程規劃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9C76E0D-EE37-418B-B9ED-0712419A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1E29637-4289-4089-9545-920FF552A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先由程式排除不符合條件的組合，再進行候選選擇。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DC3E07A-16F0-4F95-BAAE-7841D12C8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※ 營業時間無法確認時，結果會提示使用者向店家確認。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9676484E-5993-4480-BB94-D69F4138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電影場次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869D9CFC-101E-47D6-9231-183549DE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430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是否來得及抵達？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2DEC6326-5656-4D9E-B467-B421D8A1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活動銜接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3D1FD755-A6C8-4274-A35D-5A062D10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0982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用餐與電影之間，是否有足夠移動時間？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F65D147D-1895-449F-9A16-9B7FE85E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營業時間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E216A3A-B423-4EBB-BBCA-86C014A3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765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用餐安排是否符合可取得的營業時間？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313A7FD2-20F6-4FCB-AE17-8CAC45A5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步行與預算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F0B720DF-4DC4-4F1B-956B-4B54C4E3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4332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步行距離與每人預算是否符合限制？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16C55CA8-E0CD-4F05-AB68-7706FC47E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00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返回時間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45AFB592-5925-4385-A657-CB114943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100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能否在指定時間返回出發站？</a:t>
            </a:r>
          </a:p>
        </p:txBody>
      </p:sp>
    </p:spTree>
    <p:extLst>
      <p:ext uri="{BB962C8B-B14F-4D97-AF65-F5344CB8AC3E}">
        <p14:creationId xmlns:p14="http://schemas.microsoft.com/office/powerpoint/2010/main" val="11838116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3B676A3C-E7EE-43B1-955B-39FE38C7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後端技術與用途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3A412DB-DE71-4B71-9307-8E2B6030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2  /  後端與行程規劃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74A3924-E0F2-47C1-8DDF-5E28D00F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F27EF85-3D51-4A54-BA2D-B05DB19F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讓需要等待的工作在背景執行，並持續回傳進度。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9376DC-00E6-4415-8842-ECB0A993FD2B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7962900"/>
              </a:tblGrid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技術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在專案中的用途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</a:tr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FastAPI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接收條件、提供資料與規劃結果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PostgreSQL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保存電影、餐廳、車站等資料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PostGIS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處理位置與距離查詢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Redis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快取、呼叫頻率限制與進度訊息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RQ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執行規劃及資料更新的背景工作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44564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5A206D37-1B3D-44DE-9E59-EEE2714C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後端成果與後續工作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DF62F86-496D-433A-A909-7BC03354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2  /  後端與行程規劃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B2C0BF6-428E-4FA2-923D-CB5D0225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81C4DCE6-A870-4FF4-8CCB-28AA659C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目前已有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D159E29B-2F07-483D-A73C-79CD4210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資料蒐集、匯入與更新流程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B0EC4C51-7AFA-436D-B555-6E81EF18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條件篩選、交通查詢與時間軸產生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0FD75624-2794-4333-AE46-B3BE27A1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真實電影、餐廳與交通資料的規劃紀錄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E159308E-1085-41CB-8FAD-D22EBC53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38325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後續重點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4CEF2AE-D04C-42D5-82E9-9668FCE9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完整驗證前後端串接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8FF489B-0659-49F0-BD21-E7044E67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完成待驗證的外部服務實測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3CAFD3A8-A528-42D9-9F5F-9F4F5F0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3425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評估規劃耗時與資料品質</a:t>
            </a:r>
          </a:p>
        </p:txBody>
      </p:sp>
    </p:spTree>
    <p:extLst>
      <p:ext uri="{BB962C8B-B14F-4D97-AF65-F5344CB8AC3E}">
        <p14:creationId xmlns:p14="http://schemas.microsoft.com/office/powerpoint/2010/main" val="1583989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929582A7-28C3-4ADF-9941-285BF846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JEV 的角色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29F75B59-07D1-43F1-A535-F64E7A4B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3  /  JEV 與候選選擇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25AC1F70-B6AA-4814-977C-A29DBF4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CF2E4202-EF51-4A55-943B-2B84B1287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JEV 的選擇結果交由程式進行排名與後續處理。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79205CD-F29F-4847-BE93-80D5E5EC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後端先確認行程是否可行，JEV 再參與候選選擇。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66D9991A-A18C-4680-B5AE-8FED0B9F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電影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5C91ADE1-7F1E-4FF3-9A80-F3B8F7C6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5742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哪一部較符合使用者偏好？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2ABA408-4A4D-4733-9171-F91B840FF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餐廳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477B0598-07B2-454C-B7EF-3641BC8A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28950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哪一家較符合料理與預算需求？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C79E9C3C-8AA4-48DD-B8AA-393D2799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交通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25C6219-D498-46D9-BD2D-85BFF78D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00475"/>
            <a:ext cx="85153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哪條候選路線較適合？</a:t>
            </a:r>
          </a:p>
        </p:txBody>
      </p:sp>
    </p:spTree>
    <p:extLst>
      <p:ext uri="{BB962C8B-B14F-4D97-AF65-F5344CB8AC3E}">
        <p14:creationId xmlns:p14="http://schemas.microsoft.com/office/powerpoint/2010/main" val="164173218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1">
            <a:extLst xmlns:a="http://schemas.openxmlformats.org/drawingml/2006/main">
              <a:ext uri="{FF2B5EF4-FFF2-40B4-BE49-F238E27FC236}">
                <a16:creationId xmlns:a16="http://schemas.microsoft.com/office/drawing/2014/main" id="{0DB4A628-9ED8-47CE-AFD4-E5FD6BF1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候選如何變成選擇題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36A4E7EF-C023-42AE-9882-582F549E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3  /  JEV 與候選選擇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A78581BD-952C-4A75-9091-2F9E8F59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0EA3765-8E3A-4138-B623-53D57344F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以餐廳選擇為例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E71231EC-2FC9-4B82-A284-E58F6AC47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717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使用者需求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1238FC41-C820-4A3F-9D94-EC293004D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想吃的料理類別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EC60EA4-000A-4BE8-AE67-8BE5911B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每人預算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9D0A1A1C-4226-4E7D-8997-B287FD3C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717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候選餐廳資料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E6D9F913-B6C3-4D43-B686-66630F82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908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料理類別、價位區間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F7C6272-9499-48EF-A714-9ABBB5A11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85762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用餐時間、步行時間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AD5CE021-96C9-45F6-8C25-A7AE202E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243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約會適合度等屬性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110FB75A-4E14-4CB0-9CAB-6A283856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717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輸出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B317FD21-B7BA-40DA-BBFB-EF5743EE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9087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各候選選項的機率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D5417D90-A968-4E2D-A853-F3F9676D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857625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供後續排名使用的</a:t>
            </a:r>
          </a:p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選擇結果</a:t>
            </a:r>
          </a:p>
        </p:txBody>
      </p:sp>
    </p:spTree>
    <p:extLst>
      <p:ext uri="{BB962C8B-B14F-4D97-AF65-F5344CB8AC3E}">
        <p14:creationId xmlns:p14="http://schemas.microsoft.com/office/powerpoint/2010/main" val="20757693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59344324-CDF9-46A7-BBAD-703F7181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機率與方案排名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B1A693E-9259-4F6F-A822-3829DC27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3  /  JEV 與候選選擇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9F260618-44D5-470C-B5FE-90268700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2385C01B-CD82-4FFF-B0CA-7FA8B9E5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分數相同時，優先考慮時間緩衝較充裕的組合。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084FE66A-0F52-4E7B-A149-2BEB9278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9597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※ 此分數是專案的排序依據，不代表行程成功率。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79DF771-3C2E-4CD1-87E1-BB232F1C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排名分數＝電影選項機率 × 餐廳選項機率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174D9CAC-68B4-4CE3-B946-63F9FAE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示意數值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69A20D4F-8575-4AE1-BF6C-7CB9D26C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15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0.70 × 0.60 = 0.42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87BC3A33-514E-4CFA-B885-3DC47ED9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電影 A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347BB970-A5F2-40F2-83B2-B09A7AE9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86250"/>
            <a:ext cx="247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餐廳 B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CEB89E06-0AA8-4CF0-9262-D9AD390D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86250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組合排名分數</a:t>
            </a:r>
          </a:p>
        </p:txBody>
      </p:sp>
    </p:spTree>
    <p:extLst>
      <p:ext uri="{BB962C8B-B14F-4D97-AF65-F5344CB8AC3E}">
        <p14:creationId xmlns:p14="http://schemas.microsoft.com/office/powerpoint/2010/main" val="14713130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9F9FAD97-1848-4797-8FAE-804C51A0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LLM 代選的觸發條件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65D5CC0-6FEC-4E8B-90F7-B3E176B5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3  /  JEV 與候選選擇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066DF333-FBEF-43EF-8058-DAFC76A4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3A0E8CBE-26D0-407B-A747-BBDA133E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0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最高選項機率 &lt; 0.6 → LLM 代選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2DC2F-84D5-4136-AB82-F53EBD3FE515}"/>
              </a:ext>
            </a:extLst>
          </p:cNvPr>
          <p:cNvGraphicFramePr/>
          <p:nvPr/>
        </p:nvGraphicFramePr>
        <p:xfrm>
          <a:off xmlns:a="http://schemas.openxmlformats.org/drawingml/2006/main" x="685800" y="2533650"/>
          <a:ext xmlns:a="http://schemas.openxmlformats.org/drawingml/2006/main" cx="10820400" cy="2171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572000"/>
                <a:gridCol w="6248400"/>
              </a:tblGrid>
              <a:tr h="723900"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示意機率分布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</a:tr>
              <a:tr h="723900">
                <a:tc>
                  <a:txBody>
                    <a:bodyPr lIns="171450" tIns="95250" rIns="142875" bIns="95250"/>
                    <a:lstStyle/>
                    <a:p>
                      <a:r>
                        <a:rPr sz="217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0.70、0.20、0.10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17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採用 JEV 的選擇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lIns="171450" tIns="95250" rIns="142875" bIns="95250"/>
                    <a:lstStyle/>
                    <a:p>
                      <a:r>
                        <a:rPr sz="217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0.40、0.35、0.25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17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請 LLM 從前三名中代選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73B42A3-8874-4C32-94FA-84EBF6D9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判斷依據：最高選項機率，非 confidence 欄位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46ECC2E-7EFC-4994-9522-55862B59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02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門檻需依後續實測結果調整。</a:t>
            </a:r>
          </a:p>
        </p:txBody>
      </p:sp>
    </p:spTree>
    <p:extLst>
      <p:ext uri="{BB962C8B-B14F-4D97-AF65-F5344CB8AC3E}">
        <p14:creationId xmlns:p14="http://schemas.microsoft.com/office/powerpoint/2010/main" val="198818475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89817AE6-AA80-4EC7-BE80-E0F38A173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JEV 進度與驗證計畫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4986DA67-A175-4BC0-B72D-1F45775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3  /  JEV 與候選選擇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73899F8-005D-405A-BD30-25594673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D2EBDF8-E64C-4E89-A400-F2031070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目前已有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6AD38B92-8608-4CA6-BC03-DD25813D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模擬版與正式服務串接程式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393E1E1D-ACB7-4D9C-AF24-052CE036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候選題目、回應解析與排名邏輯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94C195C3-2893-449D-9DE4-CF5F6DF1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43425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LLM 代選觸發流程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79A76436-C93B-452B-8CD3-64A080F5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38325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待完成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9FAD1B8D-EB6E-471D-AD0A-C8D11585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使用金鑰驗證正式服務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6C0F6D6A-1FDB-4B34-ADB5-D2A93606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90925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檢查固定案例的選擇是否合理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CC54E51D-5652-4DBF-A606-1ED10C13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43425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記錄回應時間與 LLM 代選比例</a:t>
            </a:r>
          </a:p>
        </p:txBody>
      </p:sp>
    </p:spTree>
    <p:extLst>
      <p:ext uri="{BB962C8B-B14F-4D97-AF65-F5344CB8AC3E}">
        <p14:creationId xmlns:p14="http://schemas.microsoft.com/office/powerpoint/2010/main" val="16917638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">
            <a:extLst xmlns:a="http://schemas.openxmlformats.org/drawingml/2006/main">
              <a:ext uri="{FF2B5EF4-FFF2-40B4-BE49-F238E27FC236}">
                <a16:creationId xmlns:a16="http://schemas.microsoft.com/office/drawing/2014/main" id="{702E0B3D-2D19-4491-88F5-56045595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LLM 的兩個使用時機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98571F5-DC15-421E-BD1B-74753CDD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4  /  LLM、限制與後續規劃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1095BB4C-2737-4665-A41D-BACA4752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E58C250-85D2-49CE-91C1-BC7C2C6F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目前的 LLM 功能集中在資料判斷與選擇。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C3D3171D-9ECF-484D-953D-F953DED3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透過本機 Ollama 呼叫語言模型。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95CB162-A02C-4B00-A17C-2D428D9C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資料匯入時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9ABBDCB-835D-459C-BA00-5167CBBE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補充餐廳屬性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2578F3CB-B232-4DE8-88F2-EAEBBB2F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466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判斷電影片型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5C146A5F-FC87-404F-911A-4243129B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24100"/>
            <a:ext cx="5105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行程規劃時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FFD20F60-C676-4609-975B-4B94E1AD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4200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JEV 最高選項機率低於門檻時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6C5ECDAB-340C-4696-B729-E121CD000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6700"/>
            <a:ext cx="5105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協助候選代選</a:t>
            </a:r>
          </a:p>
        </p:txBody>
      </p:sp>
    </p:spTree>
    <p:extLst>
      <p:ext uri="{BB962C8B-B14F-4D97-AF65-F5344CB8AC3E}">
        <p14:creationId xmlns:p14="http://schemas.microsoft.com/office/powerpoint/2010/main" val="2868761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">
            <a:extLst xmlns:a="http://schemas.openxmlformats.org/drawingml/2006/main">
              <a:ext uri="{FF2B5EF4-FFF2-40B4-BE49-F238E27FC236}">
                <a16:creationId xmlns:a16="http://schemas.microsoft.com/office/drawing/2014/main" id="{E4C81CFF-6782-4A73-B264-0B38AE91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資料屬性判斷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FBDA0999-338C-43F4-B616-2E2842FA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4  /  LLM、限制與後續規劃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DB6EEB7-0188-4978-ABD8-47A88F3B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6D01974B-B78C-43C7-BE46-3799BB98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模型推估仍可能有誤，需要抽樣核對。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8E8C0-C8AA-4E25-830C-559E0CCE46A8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25146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00500"/>
                <a:gridCol w="6819900"/>
              </a:tblGrid>
              <a:tr h="838200"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輸入資料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判斷內容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</a:tr>
              <a:tr h="838200">
                <a:tc>
                  <a:txBody>
                    <a:bodyPr lIns="171450" tIns="95250" rIns="142875" bIns="95250"/>
                    <a:lstStyle/>
                    <a:p>
                      <a:r>
                        <a:rPr sz="1950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餐廳名稱與既有標籤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950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料理類別、價位區間、用餐時間、約會適合度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 lIns="171450" tIns="95250" rIns="142875" bIns="95250"/>
                    <a:lstStyle/>
                    <a:p>
                      <a:r>
                        <a:rPr sz="1950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電影名稱、簡介與出品國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950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電影片型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ACDFED8-9172-4F93-AF1D-B1B01E82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既有資料優先 → 模型補充屬性 → 限定回傳類別</a:t>
            </a:r>
          </a:p>
        </p:txBody>
      </p:sp>
    </p:spTree>
    <p:extLst>
      <p:ext uri="{BB962C8B-B14F-4D97-AF65-F5344CB8AC3E}">
        <p14:creationId xmlns:p14="http://schemas.microsoft.com/office/powerpoint/2010/main" val="10217248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">
            <a:extLst xmlns:a="http://schemas.openxmlformats.org/drawingml/2006/main">
              <a:ext uri="{FF2B5EF4-FFF2-40B4-BE49-F238E27FC236}">
                <a16:creationId xmlns:a16="http://schemas.microsoft.com/office/drawing/2014/main" id="{4B296022-F6AD-4503-9490-2A5887EB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候選代選與輸出限制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AE91D5A6-80A8-4CB8-A176-B1C8FE5F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4  /  LLM、限制與後續規劃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5BA344EB-C076-441A-AAA0-8092EE07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A1F7C17D-ABE3-4196-9AA7-47AB233C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固定格式便於程式處理，仍需評估選擇品質。</a:t>
            </a: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156536DF-77BD-4C2F-8C97-8AD6AAB1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0DCB6AB-0D6D-4AF8-B604-BB292BC3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430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取 JEV 機率前三名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BD711FC5-B9D4-44FD-B821-0FDC4E0C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0738C3E5-A7BF-4C7A-A1F7-B6E3432D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907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提供使用者偏好與候選屬性</a:t>
            </a:r>
          </a:p>
        </p:txBody>
      </p:sp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4E468ADF-1E07-415D-8A7C-C94A1C61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BFBAE9D9-322A-4065-BF71-8E5BBA89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0384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LLM 選擇一個候選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E69B308A-2F2A-463B-9D0E-8553D46A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8617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E9990D53-36D8-42A4-912C-5BDB6B9C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861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以固定 JSON 格式回傳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4DED668D-9DD6-46BC-8B10-2B13EFA7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619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8F15887E-2B98-4711-8115-98100AE2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3338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程式檢查是否為有效候選</a:t>
            </a:r>
          </a:p>
        </p:txBody>
      </p:sp>
      <p:sp>
        <p:nvSpPr>
          <p:cNvPr id="15" name="text-15">
            <a:extLst xmlns:a="http://schemas.openxmlformats.org/drawingml/2006/main">
              <a:ext uri="{FF2B5EF4-FFF2-40B4-BE49-F238E27FC236}">
                <a16:creationId xmlns:a16="http://schemas.microsoft.com/office/drawing/2014/main" id="{6B041921-F8DF-42EF-A28B-F9558E5D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66975"/>
            <a:ext cx="33147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示意回傳</a:t>
            </a:r>
          </a:p>
        </p:txBody>
      </p:sp>
      <p:sp>
        <p:nvSpPr>
          <p:cNvPr id="16" name="text-16">
            <a:extLst xmlns:a="http://schemas.openxmlformats.org/drawingml/2006/main">
              <a:ext uri="{FF2B5EF4-FFF2-40B4-BE49-F238E27FC236}">
                <a16:creationId xmlns:a16="http://schemas.microsoft.com/office/drawing/2014/main" id="{049A0C61-D556-4314-915F-1A1F32A06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86100"/>
            <a:ext cx="3600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{"choice": "r12"}</a:t>
            </a:r>
          </a:p>
        </p:txBody>
      </p:sp>
    </p:spTree>
    <p:extLst>
      <p:ext uri="{BB962C8B-B14F-4D97-AF65-F5344CB8AC3E}">
        <p14:creationId xmlns:p14="http://schemas.microsoft.com/office/powerpoint/2010/main" val="18625231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">
            <a:extLst xmlns:a="http://schemas.openxmlformats.org/drawingml/2006/main">
              <a:ext uri="{FF2B5EF4-FFF2-40B4-BE49-F238E27FC236}">
                <a16:creationId xmlns:a16="http://schemas.microsoft.com/office/drawing/2014/main" id="{2245D30C-8D6F-4256-9128-59702ABE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錯誤處理與目前限制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054866F6-E6E6-4351-83A7-7C5C571A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4  /  LLM、限制與後續規劃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8F2EABD9-15AD-4F65-9701-A86E3F68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AE9DA32-0427-43F7-A080-08C3A2C8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資料可能不完整，模型推估可能有誤，推論也會增加等待時間。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7573F-34E2-44E0-9FAA-F23BA24EC5B7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5429250"/>
                <a:gridCol w="5391150"/>
              </a:tblGrid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情況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處理方式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</a:tr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1950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代選逾時、連線失敗或答案無效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950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採用 JEV 最高機率選項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1950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資料屬性判斷失敗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950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保留缺值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1950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餐廳缺少必要價位或用餐時間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950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不納入行程規劃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171450" tIns="95250" rIns="142875" bIns="95250"/>
                    <a:lstStyle/>
                    <a:p>
                      <a:r>
                        <a:rPr sz="1950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格式正確，但內容判斷不準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950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透過抽樣核對與案例評估改善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900356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A8345CA4-1FDC-4A93-B463-541AE328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7333F"/>
                </a:solidFill>
                <a:latin typeface="Microsoft JhengHei"/>
                <a:ea typeface="Microsoft JhengHei"/>
                <a:cs typeface="Microsoft JhengHei"/>
              </a:rPr>
              <a:t>整體進度與下一階段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5EC9982-0AAA-40C6-B89D-7677362E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4  /  LLM、限制與後續規劃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DC2C053E-6B4D-4915-8E0B-A8E50E71E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48400"/>
            <a:ext cx="685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defPPr>
            <a:lvl1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66D76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1C77BD6F-F731-4DED-B998-F6EF0198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讓使用者取得符合條件、容易理解的行程方案。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4446D-9023-4F95-B985-8D5DCF217A42}"/>
              </a:ext>
            </a:extLst>
          </p:cNvPr>
          <p:cNvGraphicFramePr/>
          <p:nvPr/>
        </p:nvGraphicFramePr>
        <p:xfrm>
          <a:off xmlns:a="http://schemas.openxmlformats.org/drawingml/2006/main" x="685800" y="15621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8724900"/>
              </a:tblGrid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分工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目前進度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T w="9525">
                      <a:solidFill>
                        <a:srgbClr val="D6E2E5"/>
                      </a:solidFill>
                      <a:prstDash val="solid"/>
                    </a:lnT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17333F"/>
                    </a:solidFill>
                  </a:tcPr>
                </a:tc>
              </a:tr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前端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主要畫面與串接程式已建立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後端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資料整合與規劃流程已建立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JEV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正式串接程式已備妥，待金鑰實測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171450" tIns="95250" rIns="142875" bIns="95250"/>
                    <a:lstStyle/>
                    <a:p>
                      <a:r>
                        <a:rPr sz="2025" b="1">
                          <a:solidFill>
                            <a:srgbClr val="17333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LLM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6E2E5"/>
                      </a:solidFill>
                      <a:prstDash val="solid"/>
                    </a:lnL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  <a:tc>
                  <a:txBody>
                    <a:bodyPr lIns="171450" tIns="95250" rIns="142875" bIns="95250"/>
                    <a:lstStyle/>
                    <a:p>
                      <a:r>
                        <a:rPr sz="2025" b="0">
                          <a:solidFill>
                            <a:srgbClr val="223D49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已參與資料判斷，並實作候選代選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6E2E5"/>
                      </a:solidFill>
                      <a:prstDash val="solid"/>
                    </a:lnR>
                    <a:lnB w="9525">
                      <a:solidFill>
                        <a:srgbClr val="D6E2E5"/>
                      </a:solidFill>
                      <a:prstDash val="solid"/>
                    </a:lnB>
                    <a:solidFill>
                      <a:srgbClr val="F2F6F6"/>
                    </a:solidFill>
                  </a:tcPr>
                </a:tc>
              </a:tr>
            </a:tbl>
          </a:graphicData>
        </a:graphic>
      </p:graphicFrame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71C053F-4E77-4AF7-8EAF-FECDA0DE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60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87E82"/>
                </a:solidFill>
                <a:latin typeface="Microsoft JhengHei"/>
                <a:ea typeface="Microsoft JhengHei"/>
                <a:cs typeface="Microsoft JhengHei"/>
              </a:rPr>
              <a:t>下一步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7D52866-DE71-40FA-AD23-E47F2ADB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720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defPPr>
            <a:lvl1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1pPr>
            <a:lvl2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2pPr>
            <a:lvl3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3pPr>
            <a:lvl4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4pPr>
            <a:lvl5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5pPr>
            <a:lvl6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6pPr>
            <a:lvl7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7pPr>
            <a:lvl8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8pPr>
            <a:lvl9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223D49"/>
                </a:solidFill>
                <a:latin typeface="Microsoft JhengHei"/>
                <a:ea typeface="Microsoft JhengHei"/>
                <a:cs typeface="Microsoft JhengHei"/>
              </a:rPr>
              <a:t>完整串接驗證 → 共同案例檢查 → 記錄耗時與改善結果</a:t>
            </a:r>
          </a:p>
        </p:txBody>
      </p:sp>
    </p:spTree>
    <p:extLst>
      <p:ext uri="{BB962C8B-B14F-4D97-AF65-F5344CB8AC3E}">
        <p14:creationId xmlns:p14="http://schemas.microsoft.com/office/powerpoint/2010/main" val="5878074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JhengHei"/>
        <a:ea typeface=""/>
        <a:cs typeface=""/>
      </a:majorFont>
      <a:minorFont>
        <a:latin typeface="Microsoft Jheng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2026-10-21T06:51:28.4210000Z</dcterms:created>
  <dcterms:modified xsi:type="dcterms:W3CDTF">2026-10-21T06:51:28.4210000Z</dcterms:modified>
</coreProperties>
</file>